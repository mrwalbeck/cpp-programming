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3" r:id="rId2"/>
    <p:sldId id="313" r:id="rId3"/>
    <p:sldId id="562" r:id="rId4"/>
    <p:sldId id="534" r:id="rId5"/>
    <p:sldId id="533" r:id="rId6"/>
    <p:sldId id="537" r:id="rId7"/>
    <p:sldId id="563" r:id="rId8"/>
    <p:sldId id="565" r:id="rId9"/>
    <p:sldId id="564" r:id="rId10"/>
    <p:sldId id="536" r:id="rId11"/>
    <p:sldId id="539" r:id="rId12"/>
    <p:sldId id="540" r:id="rId13"/>
    <p:sldId id="542" r:id="rId14"/>
    <p:sldId id="544" r:id="rId15"/>
    <p:sldId id="541" r:id="rId16"/>
    <p:sldId id="546" r:id="rId17"/>
    <p:sldId id="547" r:id="rId18"/>
    <p:sldId id="548" r:id="rId19"/>
    <p:sldId id="549" r:id="rId20"/>
    <p:sldId id="550" r:id="rId21"/>
    <p:sldId id="551" r:id="rId22"/>
    <p:sldId id="552" r:id="rId23"/>
    <p:sldId id="553" r:id="rId24"/>
    <p:sldId id="554" r:id="rId25"/>
    <p:sldId id="555" r:id="rId26"/>
    <p:sldId id="556" r:id="rId27"/>
    <p:sldId id="531" r:id="rId28"/>
    <p:sldId id="559" r:id="rId29"/>
    <p:sldId id="560" r:id="rId30"/>
    <p:sldId id="386" r:id="rId31"/>
    <p:sldId id="27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FFFF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9664" autoAdjust="0"/>
  </p:normalViewPr>
  <p:slideViewPr>
    <p:cSldViewPr>
      <p:cViewPr varScale="1">
        <p:scale>
          <a:sx n="79" d="100"/>
          <a:sy n="79" d="100"/>
        </p:scale>
        <p:origin x="1632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8910F-2AFB-4033-B56C-66F0A1FD95E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5720A-9658-406E-AF8C-E28D6A7BB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6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381000" y="2523971"/>
            <a:ext cx="8382000" cy="201485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</a:t>
            </a:r>
          </a:p>
          <a:p>
            <a:pPr algn="ctr"/>
            <a:endParaRPr lang="en-US" sz="3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 No. 01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800" b="1" dirty="0"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42A6F0-A6E4-1EAC-A879-878400F766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0" y="4520994"/>
            <a:ext cx="1600200" cy="159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4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Programming Concepts and their Importance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Computer Program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Critical Skills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Programming Languages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Bloodshed Dev-C++ Installation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What Will You Learn Today?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24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Why you are taking this course?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Point of Think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36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Core of Computer Science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Many courses depend on this course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Object Oriented Programming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Web Development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Mobile Development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Compiler Construction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….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Importance of the Course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95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Text Book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356FE88-31D9-4EF5-A6CA-128F24107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2398"/>
            <a:ext cx="6035040" cy="2194560"/>
          </a:xfr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 How to Programming (10</a:t>
            </a:r>
            <a:r>
              <a:rPr lang="en-US" sz="2800" b="1" baseline="30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Edition)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313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Paul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Deitel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Harvey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Deitel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313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Prentice Hall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8A7B25F-E4DC-4BD1-BE33-6706AB8C7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638" y="1386584"/>
            <a:ext cx="1843762" cy="220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7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Programming Constructs &amp; Building Blocks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Variables &amp; Expressions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Control structures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Selection / Multiple Selection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Iterations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Built-in Functions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User-defined Functions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Function Overloading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Function Templates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Course Contents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93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Recursion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Multi-Dimensional Arrays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Pointers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Dynamic Memory Allocation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Structures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Operator Overloading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Files Handling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Course Contents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19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Development Environment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http://wiki.codeblocks.org/images/c/c7/Cb_splash.png">
            <a:extLst>
              <a:ext uri="{FF2B5EF4-FFF2-40B4-BE49-F238E27FC236}">
                <a16:creationId xmlns:a16="http://schemas.microsoft.com/office/drawing/2014/main" id="{EBB76066-5053-4467-A6D7-22551AC14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951295"/>
            <a:ext cx="2870894" cy="1239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711C313-2378-4EF8-AA11-90F451949ADB}"/>
              </a:ext>
            </a:extLst>
          </p:cNvPr>
          <p:cNvGrpSpPr/>
          <p:nvPr/>
        </p:nvGrpSpPr>
        <p:grpSpPr>
          <a:xfrm>
            <a:off x="573436" y="4220069"/>
            <a:ext cx="1541734" cy="2028216"/>
            <a:chOff x="482958" y="3514746"/>
            <a:chExt cx="1541734" cy="2028216"/>
          </a:xfrm>
        </p:grpSpPr>
        <p:pic>
          <p:nvPicPr>
            <p:cNvPr id="18" name="Picture 4" descr="http://www.ultimatepp.org/L$index.html_0.png">
              <a:extLst>
                <a:ext uri="{FF2B5EF4-FFF2-40B4-BE49-F238E27FC236}">
                  <a16:creationId xmlns:a16="http://schemas.microsoft.com/office/drawing/2014/main" id="{13149AE5-B1EA-4233-A0DB-76565E4BA6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436" y="3514746"/>
              <a:ext cx="1368425" cy="1540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77B855C-2855-4EC3-9B59-27AA0ECDB1F3}"/>
                </a:ext>
              </a:extLst>
            </p:cNvPr>
            <p:cNvSpPr txBox="1"/>
            <p:nvPr/>
          </p:nvSpPr>
          <p:spPr>
            <a:xfrm>
              <a:off x="482958" y="5112075"/>
              <a:ext cx="154173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Ultimate++</a:t>
              </a:r>
            </a:p>
          </p:txBody>
        </p:sp>
      </p:grpSp>
      <p:pic>
        <p:nvPicPr>
          <p:cNvPr id="22" name="Picture 6" descr="http://www.armaholic.com/datas/users/notepadpp_logo_4.png">
            <a:extLst>
              <a:ext uri="{FF2B5EF4-FFF2-40B4-BE49-F238E27FC236}">
                <a16:creationId xmlns:a16="http://schemas.microsoft.com/office/drawing/2014/main" id="{AA0271DE-9579-4435-A0FE-DD3FB6757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50" y="1219200"/>
            <a:ext cx="2019300" cy="145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8" descr="https://aleksandarjakovljevic.com/wp-content/uploads/2015/08/netbeans-logo.png">
            <a:extLst>
              <a:ext uri="{FF2B5EF4-FFF2-40B4-BE49-F238E27FC236}">
                <a16:creationId xmlns:a16="http://schemas.microsoft.com/office/drawing/2014/main" id="{5FE3B92D-4775-4C31-81E1-99FD73A1F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784" y="2809147"/>
            <a:ext cx="2971801" cy="129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A558C69-2CB4-4452-9A9A-7971D5047EBA}"/>
              </a:ext>
            </a:extLst>
          </p:cNvPr>
          <p:cNvGrpSpPr/>
          <p:nvPr/>
        </p:nvGrpSpPr>
        <p:grpSpPr>
          <a:xfrm>
            <a:off x="6756686" y="1180142"/>
            <a:ext cx="1932770" cy="2286111"/>
            <a:chOff x="6615767" y="1925284"/>
            <a:chExt cx="1905000" cy="2265716"/>
          </a:xfrm>
        </p:grpSpPr>
        <p:pic>
          <p:nvPicPr>
            <p:cNvPr id="25" name="Picture 10" descr="https://projects.eclipse.org/sites/default/files/cdt_logo_icon_0.png">
              <a:extLst>
                <a:ext uri="{FF2B5EF4-FFF2-40B4-BE49-F238E27FC236}">
                  <a16:creationId xmlns:a16="http://schemas.microsoft.com/office/drawing/2014/main" id="{8660F823-BC3A-47A1-95A6-8A51A354F3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5767" y="1925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41E13C-0727-487F-818F-BB5354277C70}"/>
                </a:ext>
              </a:extLst>
            </p:cNvPr>
            <p:cNvSpPr txBox="1"/>
            <p:nvPr/>
          </p:nvSpPr>
          <p:spPr>
            <a:xfrm>
              <a:off x="6662235" y="3760113"/>
              <a:ext cx="18081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Eclipse CDT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FA127C-D76B-4365-8019-ED636960CAEC}"/>
              </a:ext>
            </a:extLst>
          </p:cNvPr>
          <p:cNvGrpSpPr/>
          <p:nvPr/>
        </p:nvGrpSpPr>
        <p:grpSpPr>
          <a:xfrm>
            <a:off x="2603503" y="4296982"/>
            <a:ext cx="1814975" cy="1954050"/>
            <a:chOff x="3663951" y="4214183"/>
            <a:chExt cx="1816097" cy="2063680"/>
          </a:xfrm>
        </p:grpSpPr>
        <p:pic>
          <p:nvPicPr>
            <p:cNvPr id="28" name="Picture 12" descr="http://img13.deviantart.net/cb8e/i/2012/344/9/1/flurry_ios_visual_studio_2012_replacement_icon_by_flakshack-d5nnelp.png">
              <a:extLst>
                <a:ext uri="{FF2B5EF4-FFF2-40B4-BE49-F238E27FC236}">
                  <a16:creationId xmlns:a16="http://schemas.microsoft.com/office/drawing/2014/main" id="{8E6443F8-1999-4A38-A132-6912EC0F8E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8081" y="4214183"/>
              <a:ext cx="1747838" cy="1747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2531C15-A777-4307-AB03-C4367E5640AB}"/>
                </a:ext>
              </a:extLst>
            </p:cNvPr>
            <p:cNvSpPr txBox="1"/>
            <p:nvPr/>
          </p:nvSpPr>
          <p:spPr>
            <a:xfrm>
              <a:off x="3663951" y="5846976"/>
              <a:ext cx="181609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solidFill>
                    <a:schemeClr val="accent4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Visual Studio</a:t>
              </a:r>
            </a:p>
          </p:txBody>
        </p:sp>
      </p:grpSp>
      <p:pic>
        <p:nvPicPr>
          <p:cNvPr id="30" name="Picture 14" descr="https://s.graphiq.com/sites/default/files/739/media/images/t/_2504757.png">
            <a:extLst>
              <a:ext uri="{FF2B5EF4-FFF2-40B4-BE49-F238E27FC236}">
                <a16:creationId xmlns:a16="http://schemas.microsoft.com/office/drawing/2014/main" id="{7985EE36-F2C3-406A-A4D5-7CC8FB2CA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606" y="3992471"/>
            <a:ext cx="1420098" cy="138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6" descr="https://d3kjp0zrek7zit.cloudfront.net/uploads/product/image/6557/large_detail_1429544387.png">
            <a:extLst>
              <a:ext uri="{FF2B5EF4-FFF2-40B4-BE49-F238E27FC236}">
                <a16:creationId xmlns:a16="http://schemas.microsoft.com/office/drawing/2014/main" id="{88544CCF-6240-42FE-BEF3-BA6F08512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3278" y="4336040"/>
            <a:ext cx="2534621" cy="183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B55A6235-36E1-4B61-8FF2-52173B0B6566}"/>
              </a:ext>
            </a:extLst>
          </p:cNvPr>
          <p:cNvGrpSpPr/>
          <p:nvPr/>
        </p:nvGrpSpPr>
        <p:grpSpPr>
          <a:xfrm>
            <a:off x="879286" y="1326713"/>
            <a:ext cx="1560800" cy="1626288"/>
            <a:chOff x="3390717" y="2460625"/>
            <a:chExt cx="1936750" cy="1906680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F5E1947-874E-40BE-B790-4EC2C914D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3625" y="2460625"/>
              <a:ext cx="1510934" cy="1510934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C8B839D-E47B-4EE2-AE59-DC87DD527749}"/>
                </a:ext>
              </a:extLst>
            </p:cNvPr>
            <p:cNvSpPr txBox="1"/>
            <p:nvPr/>
          </p:nvSpPr>
          <p:spPr>
            <a:xfrm>
              <a:off x="3390717" y="3970380"/>
              <a:ext cx="1936750" cy="396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US" sz="1600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Dev-</a:t>
              </a:r>
              <a:r>
                <a:rPr lang="en-US" sz="1600" i="1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Cpp</a:t>
              </a:r>
              <a:r>
                <a:rPr lang="en-US" sz="1600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5.11</a:t>
              </a: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BF52CDBD-F131-41CB-ADA7-61BB27C56100}"/>
              </a:ext>
            </a:extLst>
          </p:cNvPr>
          <p:cNvSpPr/>
          <p:nvPr/>
        </p:nvSpPr>
        <p:spPr>
          <a:xfrm>
            <a:off x="381000" y="1118788"/>
            <a:ext cx="2586538" cy="19591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4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 modern day computer has two major classifications: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There are two main categories of software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System software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Application Software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Computer Architecture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04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50746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is – a precise sequence of steps to solve a particular problem.”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 sequence of instructions is called a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computer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Operating systems, Application software, games etc.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These instructions are written in a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All Software development is done in some programming language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Computer Program (Software)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07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Critical Thinking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Pay Attention to Detail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Critical Skills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038600"/>
            <a:ext cx="1909431" cy="1827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4038600"/>
            <a:ext cx="2538561" cy="1827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4038600"/>
            <a:ext cx="2362200" cy="1827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3961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Machine Language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Assembly Language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High level languages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Procedural Languages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Object Oriented Languages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Programming Languages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78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b="1" u="sng" dirty="0">
                <a:latin typeface="Arial" panose="020B0604020202020204" pitchFamily="34" charset="0"/>
                <a:cs typeface="Arial" panose="020B0604020202020204" pitchFamily="34" charset="0"/>
              </a:rPr>
              <a:t>Machine Language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Written in the form of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Computer directly understands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Machine Dependent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3000" b="1" u="sng" dirty="0">
                <a:latin typeface="Arial" panose="020B0604020202020204" pitchFamily="34" charset="0"/>
                <a:cs typeface="Arial" panose="020B0604020202020204" pitchFamily="34" charset="0"/>
              </a:rPr>
              <a:t>Assembly Languages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Use Naturally understandable symbols called “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Mnemonics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Load 5, Load 1, Add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Assemblers are used as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interpreter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Programming Languages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35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b="1" u="sng" dirty="0">
                <a:latin typeface="Arial" panose="020B0604020202020204" pitchFamily="34" charset="0"/>
                <a:cs typeface="Arial" panose="020B0604020202020204" pitchFamily="34" charset="0"/>
              </a:rPr>
              <a:t>High Level Languages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Use naturally understandable language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Compilers are used as interpreter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IDE’s are use for rapid development like .NET environment, Visual Basic, Visual C++ and Visual C#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Programming Languages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72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6324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Extended version of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language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 is evolved by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Dennis Ritchie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C++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is developed by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Bjarne </a:t>
            </a:r>
            <a:r>
              <a:rPr 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Stroustrup</a:t>
            </a:r>
            <a:endParaRPr lang="en-US" sz="3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C++ as a Programming Language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404969"/>
            <a:ext cx="1948196" cy="17954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385512"/>
            <a:ext cx="2064472" cy="164368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Content Placeholder 2"/>
          <p:cNvSpPr txBox="1">
            <a:spLocks/>
          </p:cNvSpPr>
          <p:nvPr/>
        </p:nvSpPr>
        <p:spPr>
          <a:xfrm>
            <a:off x="457200" y="5105400"/>
            <a:ext cx="8229600" cy="11415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3000" b="1">
                <a:latin typeface="Arial" panose="020B0604020202020204" pitchFamily="34" charset="0"/>
                <a:cs typeface="Arial" panose="020B0604020202020204" pitchFamily="34" charset="0"/>
              </a:rPr>
              <a:t>Why C++ ???</a:t>
            </a:r>
          </a:p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Mother of almost all programming languages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42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730" y="2139983"/>
            <a:ext cx="5158540" cy="266700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75664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146" y="1432168"/>
            <a:ext cx="5657708" cy="4359032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34372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134" y="1538081"/>
            <a:ext cx="5715731" cy="4394964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75636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512" y="1433781"/>
            <a:ext cx="5860975" cy="4494971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6673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921" y="1498830"/>
            <a:ext cx="5776158" cy="4429922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975167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410996"/>
            <a:ext cx="5797912" cy="4467054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64414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366" y="1593970"/>
            <a:ext cx="5473267" cy="4160203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22355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604" y="1662825"/>
            <a:ext cx="5592792" cy="423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55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524000"/>
            <a:ext cx="5486112" cy="4134085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60367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697" y="1709261"/>
            <a:ext cx="5494606" cy="4160203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063544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95" y="1167908"/>
            <a:ext cx="7666409" cy="510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6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95" y="1168249"/>
            <a:ext cx="7742609" cy="515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4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95" y="1143000"/>
            <a:ext cx="7742609" cy="515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94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Bloodshed Dev-C++ Installation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181100"/>
            <a:ext cx="77343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ular Callout 14"/>
          <p:cNvSpPr/>
          <p:nvPr/>
        </p:nvSpPr>
        <p:spPr>
          <a:xfrm>
            <a:off x="4724400" y="4610100"/>
            <a:ext cx="2514600" cy="533400"/>
          </a:xfrm>
          <a:prstGeom prst="wedgeRectCallout">
            <a:avLst>
              <a:gd name="adj1" fmla="val -76937"/>
              <a:gd name="adj2" fmla="val 148214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Double click on the error</a:t>
            </a:r>
          </a:p>
        </p:txBody>
      </p:sp>
      <p:sp>
        <p:nvSpPr>
          <p:cNvPr id="16" name="Rectangular Callout 15"/>
          <p:cNvSpPr/>
          <p:nvPr/>
        </p:nvSpPr>
        <p:spPr>
          <a:xfrm>
            <a:off x="4824549" y="2476500"/>
            <a:ext cx="2514600" cy="381000"/>
          </a:xfrm>
          <a:prstGeom prst="wedgeRectCallout">
            <a:avLst>
              <a:gd name="adj1" fmla="val -76937"/>
              <a:gd name="adj2" fmla="val 13107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Missing semi-colon</a:t>
            </a:r>
          </a:p>
        </p:txBody>
      </p:sp>
    </p:spTree>
    <p:extLst>
      <p:ext uri="{BB962C8B-B14F-4D97-AF65-F5344CB8AC3E}">
        <p14:creationId xmlns:p14="http://schemas.microsoft.com/office/powerpoint/2010/main" val="1768597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Programming Concepts and their Importance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Computer Program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Critical Skills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Programming Languages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Bloodshed Dev-C++ Installation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Recap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58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i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Questions</a:t>
              </a:r>
            </a:p>
          </p:txBody>
        </p:sp>
      </p:grpSp>
      <p:pic>
        <p:nvPicPr>
          <p:cNvPr id="17" name="Content Placeholder 3" descr="Question_Mark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0" y="1828800"/>
            <a:ext cx="3695700" cy="3886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95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2739</TotalTime>
  <Words>469</Words>
  <Application>Microsoft Office PowerPoint</Application>
  <PresentationFormat>On-screen Show (4:3)</PresentationFormat>
  <Paragraphs>165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Shahid</dc:creator>
  <cp:lastModifiedBy>Arsal Mahmood</cp:lastModifiedBy>
  <cp:revision>2565</cp:revision>
  <dcterms:created xsi:type="dcterms:W3CDTF">2006-08-16T00:00:00Z</dcterms:created>
  <dcterms:modified xsi:type="dcterms:W3CDTF">2026-02-12T09:31:35Z</dcterms:modified>
</cp:coreProperties>
</file>