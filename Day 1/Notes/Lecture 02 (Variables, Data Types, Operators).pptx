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3" r:id="rId2"/>
    <p:sldId id="313" r:id="rId3"/>
    <p:sldId id="557" r:id="rId4"/>
    <p:sldId id="558" r:id="rId5"/>
    <p:sldId id="561" r:id="rId6"/>
    <p:sldId id="564" r:id="rId7"/>
    <p:sldId id="534" r:id="rId8"/>
    <p:sldId id="532" r:id="rId9"/>
    <p:sldId id="536" r:id="rId10"/>
    <p:sldId id="565" r:id="rId11"/>
    <p:sldId id="537" r:id="rId12"/>
    <p:sldId id="566" r:id="rId13"/>
    <p:sldId id="593" r:id="rId14"/>
    <p:sldId id="567" r:id="rId15"/>
    <p:sldId id="841" r:id="rId16"/>
    <p:sldId id="569" r:id="rId17"/>
    <p:sldId id="570" r:id="rId18"/>
    <p:sldId id="571" r:id="rId19"/>
    <p:sldId id="572" r:id="rId20"/>
    <p:sldId id="575" r:id="rId21"/>
    <p:sldId id="573" r:id="rId22"/>
    <p:sldId id="574" r:id="rId23"/>
    <p:sldId id="582" r:id="rId24"/>
    <p:sldId id="576" r:id="rId25"/>
    <p:sldId id="577" r:id="rId26"/>
    <p:sldId id="578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FFFF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664" autoAdjust="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4A9557-32FB-2F07-FC86-7A4C345962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BE2D1-C0A9-E5C4-556D-49213A9424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2D4E8-64FF-4741-95E7-29B49A7179A2}" type="datetimeFigureOut">
              <a:rPr lang="LID4096" smtClean="0"/>
              <a:t>02/11/2026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30017-0EC8-0177-4BDD-830BBF47B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C659B-6274-68CE-CE9C-442B752A91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31C34-6A1B-4B3A-891A-33782CC8B6A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44992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8910F-2AFB-4033-B56C-66F0A1FD95E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5720A-9658-406E-AF8C-E28D6A7BB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68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E516-ED92-407F-9F55-D07A2378F64E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72CC8-46B2-4DA9-924C-C68CAF008334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63AB-03AC-467C-981A-16FFB4F6D995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0A87-EDEB-4E99-9078-95D290DBAD39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2F9E-948F-4AA8-8EC3-1D130EA3F260}" type="datetime1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5DE6-3DA4-4E73-9F07-1C69E6B61C1E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C0D2-84DE-4DCF-8757-A2032E22FE1E}" type="datetime1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40BF-8254-4EEE-9C8A-85E2D61D2C45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1A4C2-B0CD-40A9-9428-35099657C1C8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B0FF-B7E2-4B3D-863E-E05F87A98541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F654-61C6-4F76-BB58-ACAECC802A9E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8C836-738C-4A0F-8132-E0566ED44CA5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2523971"/>
            <a:ext cx="8382000" cy="201485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</a:t>
            </a:r>
          </a:p>
          <a:p>
            <a:pPr algn="ctr"/>
            <a:endParaRPr lang="en-US" sz="3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No. 02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800" b="1" dirty="0"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4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</a:p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Keywords in C++</a:t>
            </a:r>
          </a:p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Data Types</a:t>
            </a:r>
          </a:p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</a:p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Precedence of Operators</a:t>
            </a:r>
          </a:p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Assignment Operator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What Will You Learn Today?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24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Programming in C++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609600" y="2514600"/>
            <a:ext cx="20574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C++ Code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705600" y="2362200"/>
            <a:ext cx="1752600" cy="19050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3657600" y="2514600"/>
            <a:ext cx="1828799" cy="167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Compiler</a:t>
            </a:r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2743200" y="3429000"/>
            <a:ext cx="91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>
            <a:off x="5486400" y="3429000"/>
            <a:ext cx="1143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4572000" y="4267200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3733800" y="4800600"/>
            <a:ext cx="1676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Messages</a:t>
            </a:r>
          </a:p>
        </p:txBody>
      </p:sp>
    </p:spTree>
    <p:extLst>
      <p:ext uri="{BB962C8B-B14F-4D97-AF65-F5344CB8AC3E}">
        <p14:creationId xmlns:p14="http://schemas.microsoft.com/office/powerpoint/2010/main" val="344779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5" grpId="0" animBg="1" autoUpdateAnimBg="0"/>
      <p:bldP spid="16" grpId="0" animBg="1" autoUpdateAnimBg="0"/>
      <p:bldP spid="18" grpId="0" animBg="1"/>
      <p:bldP spid="19" grpId="0" animBg="1"/>
      <p:bldP spid="22" grpId="0" animBg="1"/>
      <p:bldP spid="2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#include&lt;iostream&gt;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endParaRPr lang="en-US" sz="2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"Hello World!"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Sample Program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ular Callout 8">
            <a:extLst>
              <a:ext uri="{FF2B5EF4-FFF2-40B4-BE49-F238E27FC236}">
                <a16:creationId xmlns:a16="http://schemas.microsoft.com/office/drawing/2014/main" id="{C7538706-32E5-4322-B5D0-BE497A764BBB}"/>
              </a:ext>
            </a:extLst>
          </p:cNvPr>
          <p:cNvSpPr/>
          <p:nvPr/>
        </p:nvSpPr>
        <p:spPr>
          <a:xfrm>
            <a:off x="4843830" y="1031282"/>
            <a:ext cx="2701834" cy="759417"/>
          </a:xfrm>
          <a:prstGeom prst="wedgeRoundRectCallout">
            <a:avLst>
              <a:gd name="adj1" fmla="val -91973"/>
              <a:gd name="adj2" fmla="val 29634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Preprocessor Directive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E9474D-7595-4D73-8C83-7F60344DEE13}"/>
              </a:ext>
            </a:extLst>
          </p:cNvPr>
          <p:cNvSpPr/>
          <p:nvPr/>
        </p:nvSpPr>
        <p:spPr>
          <a:xfrm>
            <a:off x="381000" y="2667000"/>
            <a:ext cx="7454537" cy="1981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ular Callout 8">
            <a:extLst>
              <a:ext uri="{FF2B5EF4-FFF2-40B4-BE49-F238E27FC236}">
                <a16:creationId xmlns:a16="http://schemas.microsoft.com/office/drawing/2014/main" id="{DDE64CF3-C3D6-4E84-81BC-896E8B9175E0}"/>
              </a:ext>
            </a:extLst>
          </p:cNvPr>
          <p:cNvSpPr/>
          <p:nvPr/>
        </p:nvSpPr>
        <p:spPr>
          <a:xfrm>
            <a:off x="5423575" y="2064370"/>
            <a:ext cx="2122089" cy="759417"/>
          </a:xfrm>
          <a:prstGeom prst="wedgeRoundRectCallout">
            <a:avLst>
              <a:gd name="adj1" fmla="val -115797"/>
              <a:gd name="adj2" fmla="val -44087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</a:p>
        </p:txBody>
      </p:sp>
      <p:sp>
        <p:nvSpPr>
          <p:cNvPr id="18" name="Rounded Rectangular Callout 8">
            <a:extLst>
              <a:ext uri="{FF2B5EF4-FFF2-40B4-BE49-F238E27FC236}">
                <a16:creationId xmlns:a16="http://schemas.microsoft.com/office/drawing/2014/main" id="{3B01C7E1-05F2-427F-9EF0-AA4265598D68}"/>
              </a:ext>
            </a:extLst>
          </p:cNvPr>
          <p:cNvSpPr/>
          <p:nvPr/>
        </p:nvSpPr>
        <p:spPr>
          <a:xfrm>
            <a:off x="5951798" y="4871121"/>
            <a:ext cx="2122089" cy="759417"/>
          </a:xfrm>
          <a:prstGeom prst="wedgeRoundRectCallout">
            <a:avLst>
              <a:gd name="adj1" fmla="val -220342"/>
              <a:gd name="adj2" fmla="val -280955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194513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spcBef>
                <a:spcPts val="72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Programs in C++ are written in blocks</a:t>
            </a:r>
          </a:p>
          <a:p>
            <a:pPr>
              <a:spcBef>
                <a:spcPts val="72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Every block has name</a:t>
            </a:r>
          </a:p>
          <a:p>
            <a:pPr>
              <a:spcBef>
                <a:spcPts val="72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name of monitor block is main</a:t>
            </a:r>
          </a:p>
          <a:p>
            <a:pPr>
              <a:spcBef>
                <a:spcPts val="72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Every statement is ended with semi-colon (;)</a:t>
            </a:r>
          </a:p>
          <a:p>
            <a:pPr>
              <a:spcBef>
                <a:spcPts val="72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Our first program will display a message on output screen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First Program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4938394"/>
            <a:ext cx="8229600" cy="655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3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of the Program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57200" y="5562600"/>
            <a:ext cx="8229600" cy="65500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tx1"/>
              </a:buClr>
              <a:buFont typeface="Arial" pitchFamily="34" charset="0"/>
              <a:buNone/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Hello World</a:t>
            </a:r>
          </a:p>
        </p:txBody>
      </p:sp>
    </p:spTree>
    <p:extLst>
      <p:ext uri="{BB962C8B-B14F-4D97-AF65-F5344CB8AC3E}">
        <p14:creationId xmlns:p14="http://schemas.microsoft.com/office/powerpoint/2010/main" val="279891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000" b="1"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3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 in computer memory</a:t>
            </a: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 where a </a:t>
            </a:r>
            <a:r>
              <a:rPr lang="en-US" sz="3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can be stored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Variables </a:t>
            </a:r>
            <a:r>
              <a:rPr lang="en-US" sz="3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be declared</a:t>
            </a: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 before they are used in a program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In a program a variable has: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b="1">
                <a:latin typeface="Arial" panose="020B0604020202020204" pitchFamily="34" charset="0"/>
                <a:cs typeface="Arial" panose="020B0604020202020204" pitchFamily="34" charset="0"/>
              </a:rPr>
              <a:t>Data Type 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b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b="1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b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endParaRPr lang="en-US" sz="2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Variables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58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Following rules should follow for naming the variables: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i="1" dirty="0">
                <a:latin typeface="Arial" panose="020B0604020202020204" pitchFamily="34" charset="0"/>
                <a:cs typeface="Arial" panose="020B0604020202020204" pitchFamily="34" charset="0"/>
              </a:rPr>
              <a:t>Upper case letters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i="1" dirty="0">
                <a:latin typeface="Arial" panose="020B0604020202020204" pitchFamily="34" charset="0"/>
                <a:cs typeface="Arial" panose="020B0604020202020204" pitchFamily="34" charset="0"/>
              </a:rPr>
              <a:t>Lower case letters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i="1" dirty="0">
                <a:latin typeface="Arial" panose="020B0604020202020204" pitchFamily="34" charset="0"/>
                <a:cs typeface="Arial" panose="020B0604020202020204" pitchFamily="34" charset="0"/>
              </a:rPr>
              <a:t>Digits (0 to 9)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‒"/>
            </a:pPr>
            <a:r>
              <a:rPr lang="en-US" sz="2700" i="1" dirty="0">
                <a:latin typeface="Arial" panose="020B0604020202020204" pitchFamily="34" charset="0"/>
                <a:cs typeface="Arial" panose="020B0604020202020204" pitchFamily="34" charset="0"/>
              </a:rPr>
              <a:t>Underscore  (Not Recommended)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Keywords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can’t be used as variable name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i.e. return,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, void etc.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Variable Names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95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Keywords in C++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76581"/>
            <a:ext cx="4572000" cy="5335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2363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52171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C++ is a case sensitive language: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is different from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Valid identifiers: 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‒"/>
            </a:pP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abc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, char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aBc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first_var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, float _first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Invalid identifiers: 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‒"/>
            </a:pPr>
            <a:r>
              <a:rPr lang="en-US" sz="2600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mic Sans MS" panose="030F0702030302020204" pitchFamily="66" charset="0"/>
                <a:cs typeface="Courier New" panose="02070309020205020404" pitchFamily="49" charset="0"/>
              </a:rPr>
              <a:t> 3bc, </a:t>
            </a:r>
            <a:r>
              <a:rPr lang="en-US" sz="2600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mic Sans MS" panose="030F0702030302020204" pitchFamily="66" charset="0"/>
                <a:cs typeface="Courier New" panose="02070309020205020404" pitchFamily="49" charset="0"/>
              </a:rPr>
              <a:t> a*b, </a:t>
            </a:r>
            <a:r>
              <a:rPr lang="en-US" sz="2600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mic Sans MS" panose="030F0702030302020204" pitchFamily="66" charset="0"/>
                <a:cs typeface="Courier New" panose="02070309020205020404" pitchFamily="49" charset="0"/>
              </a:rPr>
              <a:t> #a, </a:t>
            </a:r>
            <a:r>
              <a:rPr lang="en-US" sz="2600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mic Sans MS" panose="030F0702030302020204" pitchFamily="66" charset="0"/>
                <a:cs typeface="Courier New" panose="02070309020205020404" pitchFamily="49" charset="0"/>
              </a:rPr>
              <a:t> void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Variable Names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07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8"/>
            <a:ext cx="8229600" cy="274320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camelCase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variable names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‒"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number,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firstName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dateOfBirth</a:t>
            </a:r>
            <a:endParaRPr lang="en-US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PascalCase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variable names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‒"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Number,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FirstName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DateOfBirth</a:t>
            </a:r>
            <a:endParaRPr lang="en-US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Variable Naming Conventions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7200" y="3733800"/>
            <a:ext cx="8229600" cy="2743200"/>
            <a:chOff x="457200" y="3581400"/>
            <a:chExt cx="8229600" cy="2743200"/>
          </a:xfrm>
        </p:grpSpPr>
        <p:sp>
          <p:nvSpPr>
            <p:cNvPr id="13" name="Content Placeholder 2"/>
            <p:cNvSpPr txBox="1">
              <a:spLocks/>
            </p:cNvSpPr>
            <p:nvPr/>
          </p:nvSpPr>
          <p:spPr>
            <a:xfrm>
              <a:off x="457200" y="4145597"/>
              <a:ext cx="8229600" cy="2179003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>
                  <a:schemeClr val="tx1"/>
                </a:buClr>
                <a:buFont typeface="Arial" pitchFamily="34" charset="0"/>
                <a:buNone/>
              </a:pPr>
              <a:r>
                <a:rPr lang="en-US" sz="3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Rule of Thumb</a:t>
              </a:r>
            </a:p>
            <a:p>
              <a:pPr>
                <a:buClr>
                  <a:schemeClr val="tx1"/>
                </a:buClr>
                <a:buFont typeface="Wingdings" pitchFamily="2" charset="2"/>
                <a:buChar char="§"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Use </a:t>
              </a:r>
              <a:r>
                <a:rPr lang="en-US" sz="3000" u="sng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camelCase</a:t>
              </a:r>
              <a:r>
                <a:rPr lang="en-US" sz="30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for </a:t>
              </a:r>
              <a:r>
                <a:rPr lang="en-US" sz="30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variable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0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names</a:t>
              </a:r>
            </a:p>
            <a:p>
              <a:pPr>
                <a:buClr>
                  <a:schemeClr val="tx1"/>
                </a:buClr>
                <a:buFont typeface="Wingdings" pitchFamily="2" charset="2"/>
                <a:buChar char="§"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Use </a:t>
              </a:r>
              <a:r>
                <a:rPr lang="en-US" sz="3000" u="sng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PascalCase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 for </a:t>
              </a:r>
              <a:r>
                <a:rPr lang="en-US" sz="30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advanced naming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 e.g. Classes, functions</a:t>
              </a:r>
            </a:p>
          </p:txBody>
        </p:sp>
        <p:pic>
          <p:nvPicPr>
            <p:cNvPr id="1026" name="Picture 2" descr="https://www.printedcircuituniversity.com/images/thumbs_up.med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1400" y="3581400"/>
              <a:ext cx="1142999" cy="1411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687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785043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firstNumber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endParaRPr lang="en-US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US" sz="2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char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gender = </a:t>
            </a:r>
            <a:r>
              <a:rPr lang="en-US" sz="2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'm'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endParaRPr lang="en-US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US" sz="2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piValue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= 3.14;</a:t>
            </a:r>
          </a:p>
          <a:p>
            <a:pPr marL="0" indent="0">
              <a:buClr>
                <a:schemeClr val="tx1"/>
              </a:buClr>
              <a:buNone/>
            </a:pPr>
            <a:endParaRPr lang="en-US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US" sz="2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myAge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2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countryName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endParaRPr lang="en-US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US" sz="2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a, b, c;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Variables Names – Examples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07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Data Types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295687"/>
              </p:ext>
            </p:extLst>
          </p:nvPr>
        </p:nvGraphicFramePr>
        <p:xfrm>
          <a:off x="236220" y="1371600"/>
          <a:ext cx="86791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360">
                <a:tc rowSpan="2">
                  <a:txBody>
                    <a:bodyPr/>
                    <a:lstStyle/>
                    <a:p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Keyword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Range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Bytes of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short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-32,768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32768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int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-2,147,483,648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2,147,483,647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long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-2,147,483,648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2,147,483,647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3.4*10-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3.4*10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double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1.7*10-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308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1.7*10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long double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3.4*10-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3.4*10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42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Data Types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672121"/>
              </p:ext>
            </p:extLst>
          </p:nvPr>
        </p:nvGraphicFramePr>
        <p:xfrm>
          <a:off x="457200" y="1965960"/>
          <a:ext cx="83058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360"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Keyword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Bytes of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unsigned 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unsigned short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65535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unsigned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int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4,294,967,295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unsigned long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2,147,483,647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60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Arithmetic Operators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98678" y="1905000"/>
          <a:ext cx="7696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C++ 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Arithmetic Operator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Subtraction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Multiplication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90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Relational Operators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69F168-805E-48EC-A7C3-99E1EE0E4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66" y="1707179"/>
            <a:ext cx="7527069" cy="41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6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5788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Arithmetic Operators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Arithmetic Operators – Examples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1981200"/>
            <a:ext cx="8229600" cy="20266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firtNo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+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secondNo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firstValue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* 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secondValue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dividend / divisor 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dividend % divisor ;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4145597"/>
            <a:ext cx="8229600" cy="655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% = Remainder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57200" y="4755197"/>
            <a:ext cx="8229600" cy="15694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600">
                <a:latin typeface="Consolas" panose="020B0609020204030204" pitchFamily="49" charset="0"/>
                <a:cs typeface="Courier New" panose="02070309020205020404" pitchFamily="49" charset="0"/>
              </a:rPr>
              <a:t>15 % 2 = 1</a:t>
            </a:r>
          </a:p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600">
                <a:latin typeface="Consolas" panose="020B0609020204030204" pitchFamily="49" charset="0"/>
                <a:cs typeface="Courier New" panose="02070309020205020404" pitchFamily="49" charset="0"/>
              </a:rPr>
              <a:t>20 % 5 = 0</a:t>
            </a:r>
          </a:p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600">
                <a:latin typeface="Consolas" panose="020B0609020204030204" pitchFamily="49" charset="0"/>
                <a:cs typeface="Courier New" panose="02070309020205020404" pitchFamily="49" charset="0"/>
              </a:rPr>
              <a:t>38 % 6 = ?</a:t>
            </a:r>
            <a:endParaRPr lang="en-US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86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Highest:		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)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Next:		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, / , %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Lowest:		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 , -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Precedence of Operators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38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111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For addition, subtraction, division and multiplication 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Left-to-right rule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applies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Same Precedence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2590800"/>
            <a:ext cx="8229600" cy="6550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A+B+C = (A+B)+C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3936367"/>
            <a:ext cx="8229600" cy="1169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For exponentiation 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Right-to-left rule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applies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57200" y="5105400"/>
            <a:ext cx="8229600" cy="6664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 B  C = A  ( B  C 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03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 animBg="1"/>
      <p:bldP spid="15" grpId="0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57880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it-IT" sz="3000" b="1" dirty="0">
                <a:latin typeface="Arial" panose="020B0604020202020204" pitchFamily="34" charset="0"/>
                <a:cs typeface="Arial" panose="020B0604020202020204" pitchFamily="34" charset="0"/>
              </a:rPr>
              <a:t>In algebra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Quadratic Equation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37882" y="3505200"/>
            <a:ext cx="8229600" cy="701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it-IT" sz="3000" b="1" dirty="0">
                <a:latin typeface="Arial" panose="020B0604020202020204" pitchFamily="34" charset="0"/>
                <a:cs typeface="Arial" panose="020B0604020202020204" pitchFamily="34" charset="0"/>
              </a:rPr>
              <a:t>In C++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71152" y="2133600"/>
            <a:ext cx="8229600" cy="6632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it-IT" sz="3000" dirty="0">
                <a:latin typeface="Arial" panose="020B0604020202020204" pitchFamily="34" charset="0"/>
                <a:cs typeface="Arial" panose="020B0604020202020204" pitchFamily="34" charset="0"/>
              </a:rPr>
              <a:t>Quadratic = ax</a:t>
            </a:r>
            <a:r>
              <a:rPr lang="it-IT" sz="3000" baseline="5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it-IT" sz="3000" dirty="0">
                <a:latin typeface="Arial" panose="020B0604020202020204" pitchFamily="34" charset="0"/>
                <a:cs typeface="Arial" panose="020B0604020202020204" pitchFamily="34" charset="0"/>
              </a:rPr>
              <a:t> + bx + c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it-IT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57200" y="4187132"/>
            <a:ext cx="8229600" cy="6896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it-IT" sz="3000" dirty="0">
                <a:latin typeface="Arial" panose="020B0604020202020204" pitchFamily="34" charset="0"/>
                <a:cs typeface="Arial" panose="020B0604020202020204" pitchFamily="34" charset="0"/>
              </a:rPr>
              <a:t>Quadratic = a*x*x + b*x + c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89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655003"/>
          </a:xfrm>
        </p:spPr>
        <p:txBody>
          <a:bodyPr>
            <a:noAutofit/>
          </a:bodyPr>
          <a:lstStyle/>
          <a:p>
            <a:pPr marL="0" indent="0" algn="ctr">
              <a:buClr>
                <a:schemeClr val="tx1"/>
              </a:buClr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10+2*3+5*4+12/6+5*20/2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Activity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0" y="4267200"/>
            <a:ext cx="27432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425480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1676400"/>
          </a:xfrm>
        </p:spPr>
        <p:txBody>
          <a:bodyPr>
            <a:noAutofit/>
          </a:bodyPr>
          <a:lstStyle/>
          <a:p>
            <a:pPr marL="0" indent="0" algn="ctr">
              <a:buClr>
                <a:schemeClr val="tx1"/>
              </a:buClr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5 *4+16/16+5*2</a:t>
            </a:r>
          </a:p>
          <a:p>
            <a:pPr marL="0" indent="0" algn="ctr">
              <a:buClr>
                <a:schemeClr val="tx1"/>
              </a:buClr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5 *4+16/(16+5*2)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Activity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4281928"/>
            <a:ext cx="33528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Equal???</a:t>
            </a:r>
          </a:p>
        </p:txBody>
      </p:sp>
    </p:spTree>
    <p:extLst>
      <p:ext uri="{BB962C8B-B14F-4D97-AF65-F5344CB8AC3E}">
        <p14:creationId xmlns:p14="http://schemas.microsoft.com/office/powerpoint/2010/main" val="283905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 algn="ctr">
              <a:buClr>
                <a:schemeClr val="tx1"/>
              </a:buClr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marL="0" indent="0" algn="ctr">
              <a:buClr>
                <a:schemeClr val="tx1"/>
              </a:buClr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 = 20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Assignment Operator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2127250" y="4038600"/>
            <a:ext cx="1676400" cy="1671637"/>
          </a:xfrm>
          <a:prstGeom prst="can">
            <a:avLst>
              <a:gd name="adj" fmla="val 25000"/>
            </a:avLst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4000" b="1" dirty="0">
                <a:solidFill>
                  <a:schemeClr val="hlink"/>
                </a:solidFill>
                <a:latin typeface="Arial" charset="0"/>
              </a:rPr>
              <a:t>A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5190212" y="4338637"/>
            <a:ext cx="12105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sz="7200" b="1" dirty="0">
                <a:latin typeface="Arial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7573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0.00764 C -0.02344 -0.03403 -0.04635 -0.06111 -0.07795 -0.07616 C -0.10937 -0.09167 -0.15712 -0.09815 -0.18958 -0.09954 C -0.22205 -0.09977 -0.2533 -0.09514 -0.27344 -0.08403 C -0.29358 -0.07245 -0.30486 -0.04699 -0.31024 -0.03102 C -0.31545 -0.01505 -0.30694 0.00463 -0.30625 0.0125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08" y="-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538847"/>
            <a:ext cx="2705100" cy="2114095"/>
          </a:xfrm>
        </p:spPr>
        <p:txBody>
          <a:bodyPr>
            <a:no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5 ;    </a:t>
            </a:r>
          </a:p>
          <a:p>
            <a:pPr marL="0" indent="0">
              <a:buClr>
                <a:schemeClr val="tx1"/>
              </a:buClr>
              <a:buNone/>
            </a:pPr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10 ;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Assignment Operator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3886200" y="2286000"/>
            <a:ext cx="1676400" cy="1066800"/>
          </a:xfrm>
          <a:prstGeom prst="can">
            <a:avLst>
              <a:gd name="adj" fmla="val 2500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4000" b="1" dirty="0">
                <a:solidFill>
                  <a:srgbClr val="0070C0"/>
                </a:solidFill>
                <a:latin typeface="Arial" charset="0"/>
              </a:rPr>
              <a:t>X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6858000" y="2286000"/>
            <a:ext cx="6126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sz="6000" b="1" dirty="0">
                <a:solidFill>
                  <a:srgbClr val="C00000"/>
                </a:solidFill>
                <a:latin typeface="Arial" charset="0"/>
              </a:rPr>
              <a:t>5</a:t>
            </a: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3905250" y="3886200"/>
            <a:ext cx="1676400" cy="1066800"/>
          </a:xfrm>
          <a:prstGeom prst="can">
            <a:avLst>
              <a:gd name="adj" fmla="val 2500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4000" b="1" dirty="0">
                <a:solidFill>
                  <a:srgbClr val="0070C0"/>
                </a:solidFill>
                <a:latin typeface="Arial" charset="0"/>
              </a:rPr>
              <a:t>X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6858000" y="3851792"/>
            <a:ext cx="104067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sz="6000" b="1" dirty="0">
                <a:solidFill>
                  <a:srgbClr val="C00000"/>
                </a:solidFill>
                <a:latin typeface="Arial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37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34 -0.01111 C 0.02621 -0.04028 0.00295 -0.06922 -0.029 -0.08565 C -0.06094 -0.10209 -0.1092 -0.10903 -0.14236 -0.11042 C -0.17535 -0.11135 -0.20712 -0.10625 -0.22761 -0.09398 C -0.24809 -0.08148 -0.25938 -0.05371 -0.26493 -0.03658 C -0.27032 -0.01945 -0.26163 0.00208 -0.26094 0.01018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68" y="-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 -0.01065 C 0.05365 -0.04861 0.02639 -0.08658 -0.01111 -0.10834 C -0.04861 -0.12986 -0.10538 -0.13889 -0.14427 -0.14051 C -0.18298 -0.14213 -0.22031 -0.13519 -0.24444 -0.11921 C -0.2684 -0.10301 -0.28177 -0.06667 -0.28819 -0.04421 C -0.29444 -0.02153 -0.2842 0.00648 -0.2835 0.0169 " pathEditMode="relative" rAng="0" ptsTypes="AAAA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94" y="-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pl-PL" sz="3400" b="1" dirty="0">
                <a:latin typeface="Arial" panose="020B0604020202020204" pitchFamily="34" charset="0"/>
                <a:cs typeface="Arial" panose="020B0604020202020204" pitchFamily="34" charset="0"/>
              </a:rPr>
              <a:t>L.H.S = R.H.S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pl-PL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pl-PL" sz="3400" b="1" dirty="0">
                <a:latin typeface="Consolas" panose="020B0609020204030204" pitchFamily="49" charset="0"/>
                <a:cs typeface="Courier New" panose="02070309020205020404" pitchFamily="49" charset="0"/>
              </a:rPr>
              <a:t>a + 2 = b + 10 	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pl-PL" sz="3400" b="1" dirty="0">
                <a:latin typeface="Consolas" panose="020B0609020204030204" pitchFamily="49" charset="0"/>
                <a:cs typeface="Courier New" panose="02070309020205020404" pitchFamily="49" charset="0"/>
              </a:rPr>
              <a:t>z = x + 4 		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pl-PL" sz="3400" b="1" dirty="0">
                <a:latin typeface="Consolas" panose="020B0609020204030204" pitchFamily="49" charset="0"/>
                <a:cs typeface="Courier New" panose="02070309020205020404" pitchFamily="49" charset="0"/>
              </a:rPr>
              <a:t>a + 14 = m</a:t>
            </a:r>
            <a:endParaRPr lang="en-US" sz="3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Assignment Operator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54" y="2688770"/>
            <a:ext cx="1546246" cy="58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54" y="3975143"/>
            <a:ext cx="1546246" cy="58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54" y="3409949"/>
            <a:ext cx="1027745" cy="495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564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</a:p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Keywords in C++</a:t>
            </a:r>
          </a:p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Data Types</a:t>
            </a:r>
          </a:p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</a:p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Precedence of Operators</a:t>
            </a:r>
          </a:p>
          <a:p>
            <a:pPr>
              <a:spcBef>
                <a:spcPts val="720"/>
              </a:spcBef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Assignment Operator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Recap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15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i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Questions</a:t>
              </a:r>
            </a:p>
          </p:txBody>
        </p:sp>
      </p:grpSp>
      <p:pic>
        <p:nvPicPr>
          <p:cNvPr id="17" name="Content Placeholder 3" descr="Question_Mark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0" y="1828800"/>
            <a:ext cx="3695700" cy="3886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84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2809</TotalTime>
  <Words>661</Words>
  <Application>Microsoft Office PowerPoint</Application>
  <PresentationFormat>On-screen Show (4:3)</PresentationFormat>
  <Paragraphs>240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Arial</vt:lpstr>
      <vt:lpstr>Calibri</vt:lpstr>
      <vt:lpstr>Comic Sans MS</vt:lpstr>
      <vt:lpstr>Consolas</vt:lpstr>
      <vt:lpstr>Courier New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Shahid</dc:creator>
  <cp:lastModifiedBy>Arsal Mahmood</cp:lastModifiedBy>
  <cp:revision>2619</cp:revision>
  <dcterms:created xsi:type="dcterms:W3CDTF">2006-08-16T00:00:00Z</dcterms:created>
  <dcterms:modified xsi:type="dcterms:W3CDTF">2026-02-11T05:27:22Z</dcterms:modified>
</cp:coreProperties>
</file>